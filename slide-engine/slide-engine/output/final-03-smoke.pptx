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Textbook pages: 13-15; LMS scope: FINAL-02 renderer smoke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Textbook pages: 13-15; LMS scope: FINAL-02 renderer smoke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Textbook pages: 13-15; LMS scope: FINAL-02 renderer smoke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Page 13, offsets 0-40: Concept source text.
[Narration]
A concept slide explains one central idea with supporting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Page 13, offsets 41-80: Comparison source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Page 14, offsets 0-40: Process source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Page 14, offsets 41-80: Formula source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Page 15, offsets 0-60: Worked example source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Page 15, offsets 61-110: Visual source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Page 15, offsets 111-160: Quick check source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Textbook pages: 13-15; LMS scope: FINAL-02 renderer smoke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Textbook pages: 13-15; LMS scope: FINAL-02 renderer smoke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C400"/>
          </a:solidFill>
          <a:ln w="12700">
            <a:solidFill>
              <a:srgbClr val="F2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400"/>
                </a:solidFill>
              </a:rPr>
              <a:t>PHYSICS • CLASS 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Canonical Slide Types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94944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5FF"/>
                </a:solidFill>
              </a:rPr>
              <a:t>Unit FINAL-02 renderer verification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CE5FF"/>
                </a:solidFill>
              </a:rPr>
              <a:t>Lecture 99  |  FINAL-02 renderer smoke test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5074920"/>
            <a:ext cx="3749040" cy="7315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303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TEXTBOOK-ALIGNED • LMS-ALIGNED • TEACHER-READY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944"/>
            <a:ext cx="11155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73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3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 •  CLASS 10  •  LECTURE 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087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92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</a:rPr>
              <a:t>Unique Group of Institutions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65836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33"/>
                </a:solidFill>
              </a:rPr>
              <a:t>A focused fixture used to verify every canonical teaching slide renderer.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944"/>
            <a:ext cx="11155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73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3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 •  CLASS 10  •  LECTURE 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087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92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</a:rPr>
              <a:t>Unique Group of Institutions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Learning Objectives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57087"/>
                </a:solidFill>
              </a:rPr>
              <a:t>By the end of this lecture, students will be able to: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996696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82033"/>
                </a:solidFill>
              </a:rPr>
              <a:t>Identify the seven canonical slide types.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82033"/>
                </a:solidFill>
              </a:rPr>
              <a:t>Explain the purpose of each slide type.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82033"/>
                </a:solidFill>
              </a:rPr>
              <a:t>Read examples presented in each layout.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944"/>
            <a:ext cx="11155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73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3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 •  CLASS 10  •  LECTURE 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087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92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</a:rPr>
              <a:t>Unique Group of Institutions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6070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033"/>
                </a:solidFill>
              </a:rPr>
              <a:t>A concept slide introduces one central idea.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99669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82033"/>
                </a:solidFill>
              </a:rPr>
              <a:t>One clear idea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82033"/>
                </a:solidFill>
              </a:rPr>
              <a:t>Supporting fact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82033"/>
                </a:solidFill>
              </a:rPr>
              <a:t>Student takeaway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944"/>
            <a:ext cx="11155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73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3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 •  CLASS 10  •  LECTURE 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087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92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</a:rPr>
              <a:t>Unique Group of Institutions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5385816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25400">
            <a:solidFill>
              <a:srgbClr val="247B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73936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7BA0"/>
                </a:solidFill>
              </a:rPr>
              <a:t>Option A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50392" y="2350008"/>
            <a:ext cx="4873752" cy="3630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First property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Second property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08776" y="1572768"/>
            <a:ext cx="5385816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25400">
            <a:solidFill>
              <a:srgbClr val="F2C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773936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2C400"/>
                </a:solidFill>
              </a:rPr>
              <a:t>Option B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464808" y="2350008"/>
            <a:ext cx="4873752" cy="3630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Different property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Another property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944"/>
            <a:ext cx="11155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73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3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 •  CLASS 10  •  LECTURE 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087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92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</a:rPr>
              <a:t>Unique Group of Institutions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580894" cy="3520440"/>
          </a:xfrm>
          <a:prstGeom prst="roundRect">
            <a:avLst>
              <a:gd name="adj" fmla="val 1771"/>
            </a:avLst>
          </a:prstGeom>
          <a:solidFill>
            <a:srgbClr val="EEF4FA"/>
          </a:solidFill>
          <a:ln w="25400">
            <a:solidFill>
              <a:srgbClr val="247B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6207" y="2148840"/>
            <a:ext cx="548640" cy="548640"/>
          </a:xfrm>
          <a:prstGeom prst="ellipse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01927" y="2267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2971800"/>
            <a:ext cx="2178558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033"/>
                </a:solidFill>
              </a:rPr>
              <a:t>Start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02686" y="33375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57087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22142" y="1828800"/>
            <a:ext cx="2580894" cy="3520440"/>
          </a:xfrm>
          <a:prstGeom prst="roundRect">
            <a:avLst>
              <a:gd name="adj" fmla="val 1771"/>
            </a:avLst>
          </a:prstGeom>
          <a:solidFill>
            <a:srgbClr val="F7F8FA"/>
          </a:solidFill>
          <a:ln w="25400">
            <a:solidFill>
              <a:srgbClr val="F2C4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8269" y="2148840"/>
            <a:ext cx="548640" cy="548640"/>
          </a:xfrm>
          <a:prstGeom prst="ellipse">
            <a:avLst/>
          </a:prstGeom>
          <a:solidFill>
            <a:srgbClr val="F2C400"/>
          </a:solidFill>
          <a:ln w="12700">
            <a:solidFill>
              <a:srgbClr val="F2C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3989" y="2267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23310" y="2971800"/>
            <a:ext cx="2178558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033"/>
                </a:solidFill>
              </a:rPr>
              <a:t>Change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84748" y="33375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57087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04204" y="1828800"/>
            <a:ext cx="2580894" cy="3520440"/>
          </a:xfrm>
          <a:prstGeom prst="roundRect">
            <a:avLst>
              <a:gd name="adj" fmla="val 1771"/>
            </a:avLst>
          </a:prstGeom>
          <a:solidFill>
            <a:srgbClr val="EEF4FA"/>
          </a:solidFill>
          <a:ln w="25400">
            <a:solidFill>
              <a:srgbClr val="247B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0331" y="2148840"/>
            <a:ext cx="548640" cy="548640"/>
          </a:xfrm>
          <a:prstGeom prst="ellipse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6051" y="2267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5372" y="2971800"/>
            <a:ext cx="2178558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033"/>
                </a:solidFill>
              </a:rPr>
              <a:t>Result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766810" y="33375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57087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986266" y="1828800"/>
            <a:ext cx="2580894" cy="3520440"/>
          </a:xfrm>
          <a:prstGeom prst="roundRect">
            <a:avLst>
              <a:gd name="adj" fmla="val 1771"/>
            </a:avLst>
          </a:prstGeom>
          <a:solidFill>
            <a:srgbClr val="F7F8FA"/>
          </a:solidFill>
          <a:ln w="25400">
            <a:solidFill>
              <a:srgbClr val="F2C4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02393" y="2148840"/>
            <a:ext cx="548640" cy="548640"/>
          </a:xfrm>
          <a:prstGeom prst="ellipse">
            <a:avLst/>
          </a:prstGeom>
          <a:solidFill>
            <a:srgbClr val="F2C400"/>
          </a:solidFill>
          <a:ln w="12700">
            <a:solidFill>
              <a:srgbClr val="F2C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48113" y="2267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87434" y="2971800"/>
            <a:ext cx="2178558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033"/>
                </a:solidFill>
              </a:rPr>
              <a:t>Conclusion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944"/>
            <a:ext cx="11155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73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3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 •  CLASS 10  •  LECTURE 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087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92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</a:rPr>
              <a:t>Unique Group of Institutions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698480" cy="1600200"/>
          </a:xfrm>
          <a:prstGeom prst="roundRect">
            <a:avLst>
              <a:gd name="adj" fmla="val 3429"/>
            </a:avLst>
          </a:prstGeom>
          <a:solidFill>
            <a:srgbClr val="EEF4FA"/>
          </a:solidFill>
          <a:ln w="25400">
            <a:solidFill>
              <a:srgbClr val="247B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38528"/>
            <a:ext cx="102412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 = d / t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960120" y="3520440"/>
            <a:ext cx="10195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247B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721608"/>
            <a:ext cx="9738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7BA0"/>
                </a:solidFill>
              </a:rPr>
              <a:t>Where: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16152" y="4297680"/>
            <a:ext cx="9683496" cy="1161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v = speed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d = distance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t = time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944"/>
            <a:ext cx="11155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73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3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 •  CLASS 10  •  LECTURE 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087"/>
                </a:solidFill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92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</a:rPr>
              <a:t>Unique Group of Institutions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106984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033"/>
                </a:solidFill>
              </a:rPr>
              <a:t>A car travels 120 km in 2 h. Find its average speed.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A8B"/>
                </a:solidFill>
              </a:rPr>
              <a:t>Given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48840" y="2240280"/>
            <a:ext cx="9052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33"/>
                </a:solidFill>
              </a:rPr>
              <a:t>d = 120 km • t = 2 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48840" y="2770632"/>
            <a:ext cx="8869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535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A8B"/>
                </a:solidFill>
              </a:rPr>
              <a:t>Formula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48840" y="2953512"/>
            <a:ext cx="9052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33"/>
                </a:solidFill>
              </a:rPr>
              <a:t>v = d / 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48840" y="3483864"/>
            <a:ext cx="8869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6674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A8B"/>
                </a:solidFill>
              </a:rPr>
              <a:t>Substitution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48840" y="3666744"/>
            <a:ext cx="9052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33"/>
                </a:solidFill>
              </a:rPr>
              <a:t>v = 120 / 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48840" y="4197096"/>
            <a:ext cx="8869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7997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A8B"/>
                </a:solidFill>
              </a:rPr>
              <a:t>Calculation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48840" y="4379976"/>
            <a:ext cx="9052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33"/>
                </a:solidFill>
              </a:rPr>
              <a:t>v = 60 km/h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148840" y="4910328"/>
            <a:ext cx="8869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0932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BA0"/>
                </a:solidFill>
              </a:rPr>
              <a:t>Answer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48840" y="5093208"/>
            <a:ext cx="9052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65C"/>
                </a:solidFill>
              </a:rPr>
              <a:t>60 km/h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944"/>
            <a:ext cx="11155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73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3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 •  CLASS 10  •  LECTURE 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087"/>
                </a:solidFill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92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</a:rPr>
              <a:t>Unique Group of Institutions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6720840" cy="4343400"/>
          </a:xfrm>
          <a:prstGeom prst="roundRect">
            <a:avLst>
              <a:gd name="adj" fmla="val 1263"/>
            </a:avLst>
          </a:prstGeom>
          <a:solidFill>
            <a:srgbClr val="EEF4FA"/>
          </a:solidFill>
          <a:ln w="25400">
            <a:solidFill>
              <a:srgbClr val="247B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7BA0"/>
                </a:solidFill>
              </a:rPr>
              <a:t>DIAGRAM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79008" y="3401568"/>
            <a:ext cx="1005840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C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43016" y="35478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65C"/>
                </a:solidFill>
              </a:rPr>
              <a:t>Input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5748" y="4470624"/>
            <a:ext cx="1005840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C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9756" y="46169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65C"/>
                </a:solidFill>
              </a:rPr>
              <a:t>Process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55748" y="2332512"/>
            <a:ext cx="1005840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C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9756" y="247881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65C"/>
                </a:solidFill>
              </a:rPr>
              <a:t>Output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1874520"/>
            <a:ext cx="342900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2033"/>
                </a:solidFill>
              </a:rPr>
              <a:t>A labelled visual reinforces the relationship between the parts.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944"/>
            <a:ext cx="11155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73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3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 •  CLASS 10  •  LECTURE 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087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92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</a:rPr>
              <a:t>Unique Group of Institutions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Check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49808" y="1618488"/>
            <a:ext cx="502920" cy="502920"/>
          </a:xfrm>
          <a:prstGeom prst="ellipse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647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9875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033"/>
                </a:solidFill>
              </a:rPr>
              <a:t>What does this slide type test?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49808" y="2578608"/>
            <a:ext cx="502920" cy="502920"/>
          </a:xfrm>
          <a:prstGeom prst="ellipse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249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560320"/>
            <a:ext cx="9875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033"/>
                </a:solidFill>
              </a:rPr>
              <a:t>Why is a quick check useful?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97280" y="475488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7D6"/>
          </a:solidFill>
          <a:ln w="25400">
            <a:solidFill>
              <a:srgbClr val="F2C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5001768"/>
            <a:ext cx="9418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65C"/>
                </a:solidFill>
              </a:rPr>
              <a:t>Answer: It checks immediate understanding before students move 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944"/>
            <a:ext cx="11155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73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3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 •  CLASS 10  •  LECTURE 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087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92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</a:rPr>
              <a:t>Unique Group of Institutions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Recap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996696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82033"/>
                </a:solidFill>
              </a:rPr>
              <a:t>Seven canonical teaching slide types are supported.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82033"/>
                </a:solidFill>
              </a:rPr>
              <a:t>Each type has a dedicated renderer.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944"/>
            <a:ext cx="11155680" cy="0"/>
          </a:xfrm>
          <a:prstGeom prst="line">
            <a:avLst/>
          </a:prstGeom>
          <a:noFill/>
          <a:ln w="12700">
            <a:solidFill>
              <a:srgbClr val="D8DF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73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3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 •  CLASS 10  •  LECTURE 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087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92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087"/>
                </a:solidFill>
              </a:rPr>
              <a:t>Unique Group of Institutions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Questions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996696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82033"/>
                </a:solidFill>
              </a:rPr>
              <a:t>Name three canonical slide types.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82033"/>
                </a:solidFill>
              </a:rPr>
              <a:t>Why should layouts match the teaching purpose?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Canonical Slide Types</dc:title>
  <dc:subject>FINAL-02 renderer verification</dc:subject>
  <dc:creator>Unique Group of Institutions</dc:creator>
  <cp:lastModifiedBy>Unique Group of Institutions</cp:lastModifiedBy>
  <cp:revision>1</cp:revision>
  <dcterms:created xsi:type="dcterms:W3CDTF">2026-09-08T07:10:07Z</dcterms:created>
  <dcterms:modified xsi:type="dcterms:W3CDTF">2026-09-08T07:10:07Z</dcterms:modified>
</cp:coreProperties>
</file>